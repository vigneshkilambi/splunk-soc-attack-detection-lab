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79" d="100"/>
          <a:sy n="79" d="100"/>
        </p:scale>
        <p:origin x="-739" y="-6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FBD97F-5F99-9897-24E3-D802E13951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10D71BE4-5FEC-6207-4173-000C7009CA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3D9FAE4-DC74-64BC-2091-2C1DBD56052D}"/>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5" name="Footer Placeholder 4">
            <a:extLst>
              <a:ext uri="{FF2B5EF4-FFF2-40B4-BE49-F238E27FC236}">
                <a16:creationId xmlns="" xmlns:a16="http://schemas.microsoft.com/office/drawing/2014/main" id="{90208E01-9C5C-1C93-B207-81F46B9162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BE1535B-F26C-95C0-BF60-AE173D3E72B0}"/>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3903046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C1F762-E3B9-E5AD-4AE3-EFE9C3B5C1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9194D7C-B96E-E489-0D42-E940CEFB87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78AB81C-DAD0-A96B-66F9-F136511EAE6B}"/>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5" name="Footer Placeholder 4">
            <a:extLst>
              <a:ext uri="{FF2B5EF4-FFF2-40B4-BE49-F238E27FC236}">
                <a16:creationId xmlns="" xmlns:a16="http://schemas.microsoft.com/office/drawing/2014/main" id="{8AE2508C-0628-C4FE-28F0-E950C53D5B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4EDE435-BF5C-B003-822A-73CCA557649A}"/>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3901022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4BF713-A721-CEC0-EF6B-6BB79A0777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E2BDBEA-754D-2A77-0223-803464FA2A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6FC1EC36-4B13-DD4E-94CD-9C83FD391D96}"/>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5" name="Footer Placeholder 4">
            <a:extLst>
              <a:ext uri="{FF2B5EF4-FFF2-40B4-BE49-F238E27FC236}">
                <a16:creationId xmlns="" xmlns:a16="http://schemas.microsoft.com/office/drawing/2014/main" id="{7605E448-8542-70CA-DEDE-C89A73E5E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70DD9BF-1B18-B536-3656-F0D81EF00F45}"/>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2245420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7965EE-FE84-FA0A-4802-D0EFC8CCCD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6599E20-BC26-8030-A52A-0AC47FBA46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F49A67F2-DC63-0A91-CD60-EE700FA6B7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702F42E6-324B-FED7-FC8E-F16A197872BC}"/>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6" name="Footer Placeholder 5">
            <a:extLst>
              <a:ext uri="{FF2B5EF4-FFF2-40B4-BE49-F238E27FC236}">
                <a16:creationId xmlns="" xmlns:a16="http://schemas.microsoft.com/office/drawing/2014/main" id="{6582A069-2522-746D-48F5-408F024AA0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377E046F-3E11-6AE6-FE62-F78DD912DB96}"/>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373541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98606C-0125-1CF1-64FD-6B0EA83FE35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657F516-AD01-02B5-BE0B-177EE77FFC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9051B57-90CF-0016-5183-C7045393A3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77F9035-6DD4-83D1-BD22-A817C20D96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0858A139-A4F7-4921-57E6-3AB745B17F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6FEF194D-A073-59AC-078E-41D5377F8E18}"/>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8" name="Footer Placeholder 7">
            <a:extLst>
              <a:ext uri="{FF2B5EF4-FFF2-40B4-BE49-F238E27FC236}">
                <a16:creationId xmlns="" xmlns:a16="http://schemas.microsoft.com/office/drawing/2014/main" id="{B8A34349-8183-E704-ACFC-0F57CF14CC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8472D707-746D-6ADA-A1CB-29DBFE7C41C1}"/>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922490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E3ADE1-9EA3-E83C-81C4-E3CC592981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1D57DCB6-6E45-87CF-3D7D-157FBCFB4A01}"/>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4" name="Footer Placeholder 3">
            <a:extLst>
              <a:ext uri="{FF2B5EF4-FFF2-40B4-BE49-F238E27FC236}">
                <a16:creationId xmlns="" xmlns:a16="http://schemas.microsoft.com/office/drawing/2014/main" id="{DBA8716C-2373-193A-5AEB-BF2E95F0EA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543D5E19-5620-1008-E764-43F0C4A96276}"/>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2818305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ABED90A-2DFB-BF75-6B79-3DA8CBDB4D2A}"/>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3" name="Footer Placeholder 2">
            <a:extLst>
              <a:ext uri="{FF2B5EF4-FFF2-40B4-BE49-F238E27FC236}">
                <a16:creationId xmlns="" xmlns:a16="http://schemas.microsoft.com/office/drawing/2014/main" id="{8A7CF6E9-26FF-B746-CA05-F111DA1FDA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AFC586AE-C1FE-49F3-2EA9-F8A60D5EE74D}"/>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3624718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F15C88-0F66-7DE7-8F57-476AB4658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AD20885-1762-1D47-45AB-D9CCCDBC63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83404B9-C7A4-AEB9-A3E7-CFF72D865E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B2ECDEA-6729-7972-2251-492618E7D2F7}"/>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6" name="Footer Placeholder 5">
            <a:extLst>
              <a:ext uri="{FF2B5EF4-FFF2-40B4-BE49-F238E27FC236}">
                <a16:creationId xmlns="" xmlns:a16="http://schemas.microsoft.com/office/drawing/2014/main" id="{63FF1070-BF2C-3B0F-0423-7B1137E470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BAEE095-02B0-489F-411F-FFE728647B13}"/>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425004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8DE9BF-279D-9C75-FA65-B79741D245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C4DC967-557B-4481-9F4C-AF1F2A04C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A3B5015B-BD61-2D1B-F9B7-1609430AF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416F4EF-F00F-544F-3D42-7EEF00588059}"/>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6" name="Footer Placeholder 5">
            <a:extLst>
              <a:ext uri="{FF2B5EF4-FFF2-40B4-BE49-F238E27FC236}">
                <a16:creationId xmlns="" xmlns:a16="http://schemas.microsoft.com/office/drawing/2014/main" id="{B78EBC7D-7FA6-C06B-3DA9-CEAA1CD77D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7047708-5AEE-8710-5814-995D0424B26A}"/>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2627440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1CD95F-1B73-57BE-A82D-47949DCA06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76354B7E-F766-05EF-6FD8-A272394FA2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AE083AE-F6F3-C660-49D4-E33989AD0D75}"/>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5" name="Footer Placeholder 4">
            <a:extLst>
              <a:ext uri="{FF2B5EF4-FFF2-40B4-BE49-F238E27FC236}">
                <a16:creationId xmlns="" xmlns:a16="http://schemas.microsoft.com/office/drawing/2014/main" id="{1B625422-979D-9E6F-08D9-EB8615431E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B5F55F1-7394-09D3-65CB-1A5F60174E65}"/>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1682218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4E8554C6-DC39-9EF4-54F3-181DD7C613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4A16079-3186-94B9-57CA-20FC093A08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36860C7-F0DF-517B-5D29-78066D309067}"/>
              </a:ext>
            </a:extLst>
          </p:cNvPr>
          <p:cNvSpPr>
            <a:spLocks noGrp="1"/>
          </p:cNvSpPr>
          <p:nvPr>
            <p:ph type="dt" sz="half" idx="10"/>
          </p:nvPr>
        </p:nvSpPr>
        <p:spPr/>
        <p:txBody>
          <a:bodyPr/>
          <a:lstStyle/>
          <a:p>
            <a:fld id="{345670AA-66C1-4975-B4C1-530A7C51C882}" type="datetimeFigureOut">
              <a:rPr lang="en-IN" smtClean="0"/>
              <a:pPr/>
              <a:t>19-03-2026</a:t>
            </a:fld>
            <a:endParaRPr lang="en-IN"/>
          </a:p>
        </p:txBody>
      </p:sp>
      <p:sp>
        <p:nvSpPr>
          <p:cNvPr id="5" name="Footer Placeholder 4">
            <a:extLst>
              <a:ext uri="{FF2B5EF4-FFF2-40B4-BE49-F238E27FC236}">
                <a16:creationId xmlns="" xmlns:a16="http://schemas.microsoft.com/office/drawing/2014/main" id="{DA4B65C3-8226-0D78-147B-2826D08DFA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B66E6DF-EDFC-5299-3640-1A3FBC09B28B}"/>
              </a:ext>
            </a:extLst>
          </p:cNvPr>
          <p:cNvSpPr>
            <a:spLocks noGrp="1"/>
          </p:cNvSpPr>
          <p:nvPr>
            <p:ph type="sldNum" sz="quarter" idx="12"/>
          </p:nvPr>
        </p:nvSpPr>
        <p:spPr/>
        <p:txBody>
          <a:bodyPr/>
          <a:lstStyle/>
          <a:p>
            <a:fld id="{676799D6-2E97-44CF-990D-B948E8EA422B}" type="slidenum">
              <a:rPr lang="en-IN" smtClean="0"/>
              <a:pPr/>
              <a:t>‹#›</a:t>
            </a:fld>
            <a:endParaRPr lang="en-IN"/>
          </a:p>
        </p:txBody>
      </p:sp>
    </p:spTree>
    <p:extLst>
      <p:ext uri="{BB962C8B-B14F-4D97-AF65-F5344CB8AC3E}">
        <p14:creationId xmlns="" xmlns:p14="http://schemas.microsoft.com/office/powerpoint/2010/main" val="4003782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A23269F-F0B7-E082-6CB4-2D1BD24B54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16BA140-5F94-BB0E-2867-AB104432A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2499DDC-480E-D95F-3663-712267EAF2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5670AA-66C1-4975-B4C1-530A7C51C882}" type="datetimeFigureOut">
              <a:rPr lang="en-IN" smtClean="0"/>
              <a:pPr/>
              <a:t>19-03-2026</a:t>
            </a:fld>
            <a:endParaRPr lang="en-IN"/>
          </a:p>
        </p:txBody>
      </p:sp>
      <p:sp>
        <p:nvSpPr>
          <p:cNvPr id="5" name="Footer Placeholder 4">
            <a:extLst>
              <a:ext uri="{FF2B5EF4-FFF2-40B4-BE49-F238E27FC236}">
                <a16:creationId xmlns="" xmlns:a16="http://schemas.microsoft.com/office/drawing/2014/main" id="{0BE49451-01EF-1E78-577E-B97F8D6835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0C8C0268-2A4E-994F-8B7C-82B5B5E958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6799D6-2E97-44CF-990D-B948E8EA422B}" type="slidenum">
              <a:rPr lang="en-IN" smtClean="0"/>
              <a:pPr/>
              <a:t>‹#›</a:t>
            </a:fld>
            <a:endParaRPr lang="en-IN"/>
          </a:p>
        </p:txBody>
      </p:sp>
      <p:sp>
        <p:nvSpPr>
          <p:cNvPr id="7" name="Rectangle 6">
            <a:extLst>
              <a:ext uri="{FF2B5EF4-FFF2-40B4-BE49-F238E27FC236}">
                <a16:creationId xmlns="" xmlns:a16="http://schemas.microsoft.com/office/drawing/2014/main" id="{2B43AF47-1CE6-56DC-960E-06657DC1D828}"/>
              </a:ext>
            </a:extLst>
          </p:cNvPr>
          <p:cNvSpPr/>
          <p:nvPr userDrawn="1"/>
        </p:nvSpPr>
        <p:spPr>
          <a:xfrm>
            <a:off x="251927" y="270588"/>
            <a:ext cx="11691257" cy="6335485"/>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 xmlns:p14="http://schemas.microsoft.com/office/powerpoint/2010/main" val="3967684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685732-7C54-36BC-71E3-0095C7E90D8D}"/>
              </a:ext>
            </a:extLst>
          </p:cNvPr>
          <p:cNvSpPr>
            <a:spLocks noGrp="1"/>
          </p:cNvSpPr>
          <p:nvPr>
            <p:ph type="ctrTitle"/>
          </p:nvPr>
        </p:nvSpPr>
        <p:spPr>
          <a:xfrm>
            <a:off x="1524000" y="1122363"/>
            <a:ext cx="9144000" cy="1909072"/>
          </a:xfrm>
        </p:spPr>
        <p:txBody>
          <a:bodyPr>
            <a:normAutofit/>
          </a:bodyPr>
          <a:lstStyle/>
          <a:p>
            <a:r>
              <a:rPr lang="en-US" sz="4000" dirty="0">
                <a:latin typeface="Calibri bold" panose="020F0702030404030204" pitchFamily="34" charset="0"/>
                <a:ea typeface="Calibri bold" panose="020F0702030404030204" pitchFamily="34" charset="0"/>
                <a:cs typeface="Calibri bold" panose="020F0702030404030204" pitchFamily="34" charset="0"/>
              </a:rPr>
              <a:t>SOC Home Lab Project #2: Kali Linux Attack Simulation &amp; Brute Force Detection in Splunk SIEM</a:t>
            </a:r>
            <a:endParaRPr lang="en-IN" sz="4000"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Subtitle 2">
            <a:extLst>
              <a:ext uri="{FF2B5EF4-FFF2-40B4-BE49-F238E27FC236}">
                <a16:creationId xmlns="" xmlns:a16="http://schemas.microsoft.com/office/drawing/2014/main" id="{E0C2E51F-818B-FF0D-5104-3E1EB37C63BB}"/>
              </a:ext>
            </a:extLst>
          </p:cNvPr>
          <p:cNvSpPr>
            <a:spLocks noGrp="1"/>
          </p:cNvSpPr>
          <p:nvPr>
            <p:ph type="subTitle" idx="1"/>
          </p:nvPr>
        </p:nvSpPr>
        <p:spPr>
          <a:xfrm>
            <a:off x="1524000" y="3826566"/>
            <a:ext cx="9144000" cy="1431234"/>
          </a:xfrm>
        </p:spPr>
        <p:txBody>
          <a:bodyPr/>
          <a:lstStyle/>
          <a:p>
            <a:r>
              <a:rPr lang="en-US" sz="2800" dirty="0"/>
              <a:t>By vignesh kilambi</a:t>
            </a:r>
          </a:p>
          <a:p>
            <a:endParaRPr lang="en-IN" dirty="0"/>
          </a:p>
        </p:txBody>
      </p:sp>
    </p:spTree>
    <p:extLst>
      <p:ext uri="{BB962C8B-B14F-4D97-AF65-F5344CB8AC3E}">
        <p14:creationId xmlns="" xmlns:p14="http://schemas.microsoft.com/office/powerpoint/2010/main" val="3304884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E7D459F2-B96E-73B8-8221-E8159E3E75EB}"/>
              </a:ext>
            </a:extLst>
          </p:cNvPr>
          <p:cNvSpPr>
            <a:spLocks noGrp="1"/>
          </p:cNvSpPr>
          <p:nvPr>
            <p:ph type="title"/>
          </p:nvPr>
        </p:nvSpPr>
        <p:spPr/>
        <p:txBody>
          <a:bodyPr>
            <a:normAutofit/>
          </a:bodyPr>
          <a:lstStyle/>
          <a:p>
            <a:pPr marL="571500" indent="-571500">
              <a:buFont typeface="Wingdings" panose="05000000000000000000" pitchFamily="2" charset="2"/>
              <a:buChar char="Ø"/>
            </a:pPr>
            <a:r>
              <a:rPr lang="en-IN" sz="4000" dirty="0">
                <a:latin typeface="Calibri bold" panose="020F0702030404030204" pitchFamily="34" charset="0"/>
                <a:ea typeface="Calibri bold" panose="020F0702030404030204" pitchFamily="34" charset="0"/>
                <a:cs typeface="Calibri bold" panose="020F0702030404030204" pitchFamily="34" charset="0"/>
              </a:rPr>
              <a:t>SOC Home Lab Architecture</a:t>
            </a:r>
          </a:p>
        </p:txBody>
      </p:sp>
      <p:pic>
        <p:nvPicPr>
          <p:cNvPr id="8" name="Picture 7">
            <a:extLst>
              <a:ext uri="{FF2B5EF4-FFF2-40B4-BE49-F238E27FC236}">
                <a16:creationId xmlns="" xmlns:a16="http://schemas.microsoft.com/office/drawing/2014/main" id="{03FD4B1D-B81A-1ACE-E05E-3873FFAC6077}"/>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222512" y="1848678"/>
            <a:ext cx="9561445" cy="4204252"/>
          </a:xfrm>
          <a:prstGeom prst="rect">
            <a:avLst/>
          </a:prstGeom>
        </p:spPr>
      </p:pic>
    </p:spTree>
    <p:extLst>
      <p:ext uri="{BB962C8B-B14F-4D97-AF65-F5344CB8AC3E}">
        <p14:creationId xmlns="" xmlns:p14="http://schemas.microsoft.com/office/powerpoint/2010/main" val="4258209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89471E9F-61E1-AAC7-238D-4FB1823A36A6}"/>
              </a:ext>
            </a:extLst>
          </p:cNvPr>
          <p:cNvSpPr>
            <a:spLocks noGrp="1"/>
          </p:cNvSpPr>
          <p:nvPr>
            <p:ph type="title"/>
          </p:nvPr>
        </p:nvSpPr>
        <p:spPr>
          <a:xfrm>
            <a:off x="856648" y="134121"/>
            <a:ext cx="10420150" cy="923348"/>
          </a:xfrm>
        </p:spPr>
        <p:txBody>
          <a:bodyPr>
            <a:normAutofit/>
          </a:bodyPr>
          <a:lstStyle/>
          <a:p>
            <a:pPr marL="457200" indent="-457200">
              <a:buFont typeface="Wingdings" panose="05000000000000000000" pitchFamily="2" charset="2"/>
              <a:buChar char="Ø"/>
            </a:pPr>
            <a:r>
              <a:rPr lang="en-US" sz="3200" b="1" dirty="0" smtClean="0"/>
              <a:t>Attack Simulation from Kali Linux (</a:t>
            </a:r>
            <a:r>
              <a:rPr lang="en-US" sz="3200" b="1" dirty="0" err="1" smtClean="0"/>
              <a:t>Nmap</a:t>
            </a:r>
            <a:r>
              <a:rPr lang="en-US" sz="3200" b="1" dirty="0" smtClean="0"/>
              <a:t> Scan)</a:t>
            </a:r>
            <a:endParaRPr lang="en-IN" sz="3200" b="1"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4" name="Subtitle 3">
            <a:extLst>
              <a:ext uri="{FF2B5EF4-FFF2-40B4-BE49-F238E27FC236}">
                <a16:creationId xmlns="" xmlns:a16="http://schemas.microsoft.com/office/drawing/2014/main" id="{5A12C5CC-1091-A02F-F8C2-36B81246DD29}"/>
              </a:ext>
            </a:extLst>
          </p:cNvPr>
          <p:cNvSpPr>
            <a:spLocks noGrp="1"/>
          </p:cNvSpPr>
          <p:nvPr>
            <p:ph idx="1"/>
          </p:nvPr>
        </p:nvSpPr>
        <p:spPr>
          <a:xfrm>
            <a:off x="981777" y="972151"/>
            <a:ext cx="10539664" cy="981777"/>
          </a:xfrm>
        </p:spPr>
        <p:txBody>
          <a:bodyPr>
            <a:noAutofit/>
          </a:bodyPr>
          <a:lstStyle/>
          <a:p>
            <a:r>
              <a:rPr lang="en-US" sz="1800" dirty="0" smtClean="0"/>
              <a:t>Kali Linux was used to simulate an attacker performing reconnaissance on the Windows system using </a:t>
            </a:r>
            <a:r>
              <a:rPr lang="en-US" sz="1800" dirty="0" err="1" smtClean="0"/>
              <a:t>Nmap</a:t>
            </a:r>
            <a:r>
              <a:rPr lang="en-US" sz="1800" dirty="0" smtClean="0"/>
              <a:t>.</a:t>
            </a:r>
          </a:p>
          <a:p>
            <a:r>
              <a:rPr lang="en-US" sz="1800" dirty="0" smtClean="0"/>
              <a:t>Command: </a:t>
            </a:r>
            <a:r>
              <a:rPr lang="en-US" sz="1800" dirty="0" err="1" smtClean="0"/>
              <a:t>nmap</a:t>
            </a:r>
            <a:r>
              <a:rPr lang="en-US" sz="1800" dirty="0" smtClean="0"/>
              <a:t> -</a:t>
            </a:r>
            <a:r>
              <a:rPr lang="en-US" sz="1800" dirty="0" err="1" smtClean="0"/>
              <a:t>sT</a:t>
            </a:r>
            <a:r>
              <a:rPr lang="en-US" sz="1800" dirty="0" smtClean="0"/>
              <a:t> 192.168.29.247 (Target IP)</a:t>
            </a:r>
          </a:p>
          <a:p>
            <a:r>
              <a:rPr lang="en-US" sz="1800" dirty="0" smtClean="0"/>
              <a:t>Attacker IP: 192.168.29.131 – Generated network activity captured in logs.</a:t>
            </a:r>
            <a:endParaRPr lang="en-IN" sz="1800" dirty="0"/>
          </a:p>
        </p:txBody>
      </p:sp>
      <p:pic>
        <p:nvPicPr>
          <p:cNvPr id="8" name="Picture 7">
            <a:extLst>
              <a:ext uri="{FF2B5EF4-FFF2-40B4-BE49-F238E27FC236}">
                <a16:creationId xmlns="" xmlns:a16="http://schemas.microsoft.com/office/drawing/2014/main" id="{FBE0BC47-81C7-8C04-0A26-8C2F419A23E2}"/>
              </a:ext>
            </a:extLst>
          </p:cNvPr>
          <p:cNvPicPr>
            <a:picLocks noChangeAspect="1"/>
          </p:cNvPicPr>
          <p:nvPr/>
        </p:nvPicPr>
        <p:blipFill>
          <a:blip r:embed="rId2"/>
          <a:stretch>
            <a:fillRect/>
          </a:stretch>
        </p:blipFill>
        <p:spPr>
          <a:xfrm>
            <a:off x="1241659" y="2213263"/>
            <a:ext cx="9721516" cy="4208319"/>
          </a:xfrm>
          <a:prstGeom prst="rect">
            <a:avLst/>
          </a:prstGeom>
          <a:ln>
            <a:noFill/>
          </a:ln>
        </p:spPr>
      </p:pic>
      <p:sp>
        <p:nvSpPr>
          <p:cNvPr id="6" name="Rectangle 5"/>
          <p:cNvSpPr/>
          <p:nvPr/>
        </p:nvSpPr>
        <p:spPr>
          <a:xfrm>
            <a:off x="3500119" y="3835400"/>
            <a:ext cx="647065" cy="8636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7" name="Rectangle 6"/>
          <p:cNvSpPr/>
          <p:nvPr/>
        </p:nvSpPr>
        <p:spPr>
          <a:xfrm>
            <a:off x="3684270" y="4417696"/>
            <a:ext cx="643890" cy="7619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Tree>
    <p:extLst>
      <p:ext uri="{BB962C8B-B14F-4D97-AF65-F5344CB8AC3E}">
        <p14:creationId xmlns="" xmlns:p14="http://schemas.microsoft.com/office/powerpoint/2010/main" val="2681155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8D4CC3-D781-9363-3B86-AF34C0B59FE4}"/>
              </a:ext>
            </a:extLst>
          </p:cNvPr>
          <p:cNvSpPr>
            <a:spLocks noGrp="1"/>
          </p:cNvSpPr>
          <p:nvPr>
            <p:ph type="title"/>
          </p:nvPr>
        </p:nvSpPr>
        <p:spPr/>
        <p:txBody>
          <a:bodyPr>
            <a:normAutofit fontScale="90000"/>
          </a:bodyPr>
          <a:lstStyle/>
          <a:p>
            <a:pPr marL="457200" indent="-457200">
              <a:buFont typeface="Wingdings" panose="05000000000000000000" pitchFamily="2" charset="2"/>
              <a:buChar char="Ø"/>
            </a:pPr>
            <a:r>
              <a:rPr lang="en-US" sz="3600" b="1" dirty="0" smtClean="0"/>
              <a:t>Detecting Attacker IP in </a:t>
            </a:r>
            <a:r>
              <a:rPr lang="en-US" sz="3600" b="1" dirty="0" err="1" smtClean="0"/>
              <a:t>Sysmon</a:t>
            </a:r>
            <a:r>
              <a:rPr lang="en-US" sz="3600" b="1" dirty="0" smtClean="0"/>
              <a:t> Logs</a:t>
            </a:r>
            <a:r>
              <a:rPr lang="en-US" sz="3200" dirty="0">
                <a:latin typeface="Calibri bold" panose="020F0702030404030204" pitchFamily="34" charset="0"/>
                <a:ea typeface="Calibri bold" panose="020F0702030404030204" pitchFamily="34" charset="0"/>
                <a:cs typeface="Calibri bold" panose="020F0702030404030204" pitchFamily="34" charset="0"/>
              </a:rPr>
              <a:t/>
            </a:r>
            <a:br>
              <a:rPr lang="en-US" sz="3200" dirty="0">
                <a:latin typeface="Calibri bold" panose="020F0702030404030204" pitchFamily="34" charset="0"/>
                <a:ea typeface="Calibri bold" panose="020F0702030404030204" pitchFamily="34" charset="0"/>
                <a:cs typeface="Calibri bold" panose="020F0702030404030204" pitchFamily="34" charset="0"/>
              </a:rPr>
            </a:br>
            <a:r>
              <a:rPr lang="en-US" sz="2200" dirty="0" err="1" smtClean="0">
                <a:latin typeface="+mn-lt"/>
              </a:rPr>
              <a:t>Sysmon</a:t>
            </a:r>
            <a:r>
              <a:rPr lang="en-US" sz="2200" dirty="0" smtClean="0">
                <a:latin typeface="+mn-lt"/>
              </a:rPr>
              <a:t> Event ID 3 logs captured network connections between the Kali Linux attacker and the Windows victim system.</a:t>
            </a:r>
            <a:br>
              <a:rPr lang="en-US" sz="2200" dirty="0" smtClean="0">
                <a:latin typeface="+mn-lt"/>
              </a:rPr>
            </a:br>
            <a:r>
              <a:rPr lang="en-US" sz="2200" dirty="0" smtClean="0">
                <a:latin typeface="+mn-lt"/>
              </a:rPr>
              <a:t>Attacker IP (Kali): 192.168.29.131           Victim IP (Windows): 192.168.29.247</a:t>
            </a:r>
            <a:endParaRPr lang="en-IN" sz="2400" dirty="0">
              <a:latin typeface="+mn-lt"/>
              <a:ea typeface="Calibri bold" panose="020F0702030404030204" pitchFamily="34" charset="0"/>
              <a:cs typeface="Calibri bold" panose="020F0702030404030204" pitchFamily="34" charset="0"/>
            </a:endParaRPr>
          </a:p>
        </p:txBody>
      </p:sp>
      <p:pic>
        <p:nvPicPr>
          <p:cNvPr id="5" name="Content Placeholder 4">
            <a:extLst>
              <a:ext uri="{FF2B5EF4-FFF2-40B4-BE49-F238E27FC236}">
                <a16:creationId xmlns="" xmlns:a16="http://schemas.microsoft.com/office/drawing/2014/main" id="{F556FE59-FE9D-E58A-010C-99F38F8FC733}"/>
              </a:ext>
            </a:extLst>
          </p:cNvPr>
          <p:cNvPicPr>
            <a:picLocks noGrp="1" noChangeAspect="1"/>
          </p:cNvPicPr>
          <p:nvPr>
            <p:ph idx="1"/>
          </p:nvPr>
        </p:nvPicPr>
        <p:blipFill>
          <a:blip r:embed="rId2"/>
          <a:stretch>
            <a:fillRect/>
          </a:stretch>
        </p:blipFill>
        <p:spPr>
          <a:xfrm>
            <a:off x="1305536" y="1835605"/>
            <a:ext cx="9580928" cy="4331378"/>
          </a:xfrm>
        </p:spPr>
      </p:pic>
    </p:spTree>
    <p:extLst>
      <p:ext uri="{BB962C8B-B14F-4D97-AF65-F5344CB8AC3E}">
        <p14:creationId xmlns="" xmlns:p14="http://schemas.microsoft.com/office/powerpoint/2010/main" val="3848151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7E9138-7E9F-F1CD-2C7D-114E5CB11480}"/>
              </a:ext>
            </a:extLst>
          </p:cNvPr>
          <p:cNvSpPr>
            <a:spLocks noGrp="1"/>
          </p:cNvSpPr>
          <p:nvPr>
            <p:ph type="title"/>
          </p:nvPr>
        </p:nvSpPr>
        <p:spPr/>
        <p:txBody>
          <a:bodyPr>
            <a:normAutofit fontScale="90000"/>
          </a:bodyPr>
          <a:lstStyle/>
          <a:p>
            <a:pPr marL="457200" indent="-457200">
              <a:buFont typeface="Wingdings" panose="05000000000000000000" pitchFamily="2" charset="2"/>
              <a:buChar char="Ø"/>
            </a:pPr>
            <a:r>
              <a:rPr lang="en-US" sz="3600" b="1" dirty="0" smtClean="0"/>
              <a:t>Analyzing Network Connections Using </a:t>
            </a:r>
            <a:r>
              <a:rPr lang="en-US" sz="3600" b="1" dirty="0" err="1" smtClean="0"/>
              <a:t>Splunk</a:t>
            </a:r>
            <a:r>
              <a:rPr lang="en-US" sz="3600" b="1" dirty="0" smtClean="0"/>
              <a:t> </a:t>
            </a:r>
            <a:r>
              <a:rPr lang="en-US" sz="3200" b="1" dirty="0">
                <a:latin typeface="Calibri bold" panose="020F0702030404030204" pitchFamily="34" charset="0"/>
              </a:rPr>
              <a:t/>
            </a:r>
            <a:br>
              <a:rPr lang="en-US" sz="3200" b="1" dirty="0">
                <a:latin typeface="Calibri bold" panose="020F0702030404030204" pitchFamily="34" charset="0"/>
              </a:rPr>
            </a:br>
            <a:r>
              <a:rPr lang="en-US" sz="2200" dirty="0" err="1" smtClean="0">
                <a:latin typeface="+mn-lt"/>
              </a:rPr>
              <a:t>Splunk</a:t>
            </a:r>
            <a:r>
              <a:rPr lang="en-US" sz="2200" dirty="0" smtClean="0">
                <a:latin typeface="+mn-lt"/>
              </a:rPr>
              <a:t> was used to analyze </a:t>
            </a:r>
            <a:r>
              <a:rPr lang="en-US" sz="2200" dirty="0" err="1" smtClean="0">
                <a:latin typeface="+mn-lt"/>
              </a:rPr>
              <a:t>Sysmon</a:t>
            </a:r>
            <a:r>
              <a:rPr lang="en-US" sz="2200" dirty="0" smtClean="0">
                <a:latin typeface="+mn-lt"/>
              </a:rPr>
              <a:t> network logs and identify communication between attacker and victim systems.</a:t>
            </a:r>
            <a:br>
              <a:rPr lang="en-US" sz="2200" dirty="0" smtClean="0">
                <a:latin typeface="+mn-lt"/>
              </a:rPr>
            </a:br>
            <a:r>
              <a:rPr lang="en-US" sz="2200" dirty="0" smtClean="0">
                <a:latin typeface="+mn-lt"/>
              </a:rPr>
              <a:t>This helps SOC analysts detect suspicious network activity and trace attacker behavior.</a:t>
            </a:r>
            <a:endParaRPr lang="en-IN" sz="2200" dirty="0">
              <a:latin typeface="+mn-lt"/>
              <a:ea typeface="Calibri bold" panose="020F0702030404030204" pitchFamily="34" charset="0"/>
              <a:cs typeface="Calibri bold" panose="020F0702030404030204" pitchFamily="34" charset="0"/>
            </a:endParaRPr>
          </a:p>
        </p:txBody>
      </p:sp>
      <p:pic>
        <p:nvPicPr>
          <p:cNvPr id="5" name="Content Placeholder 4">
            <a:extLst>
              <a:ext uri="{FF2B5EF4-FFF2-40B4-BE49-F238E27FC236}">
                <a16:creationId xmlns="" xmlns:a16="http://schemas.microsoft.com/office/drawing/2014/main" id="{487F49DD-8D27-6A41-60C0-B94E8A5403A1}"/>
              </a:ext>
            </a:extLst>
          </p:cNvPr>
          <p:cNvPicPr>
            <a:picLocks noGrp="1" noChangeAspect="1"/>
          </p:cNvPicPr>
          <p:nvPr>
            <p:ph idx="1"/>
          </p:nvPr>
        </p:nvPicPr>
        <p:blipFill>
          <a:blip r:embed="rId2"/>
          <a:stretch>
            <a:fillRect/>
          </a:stretch>
        </p:blipFill>
        <p:spPr>
          <a:xfrm>
            <a:off x="1330486" y="1858179"/>
            <a:ext cx="9531027" cy="4286230"/>
          </a:xfrm>
        </p:spPr>
      </p:pic>
    </p:spTree>
    <p:extLst>
      <p:ext uri="{BB962C8B-B14F-4D97-AF65-F5344CB8AC3E}">
        <p14:creationId xmlns="" xmlns:p14="http://schemas.microsoft.com/office/powerpoint/2010/main" val="2113118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91B175-EED1-FD05-3B4A-2B81ED66661B}"/>
              </a:ext>
            </a:extLst>
          </p:cNvPr>
          <p:cNvSpPr>
            <a:spLocks noGrp="1"/>
          </p:cNvSpPr>
          <p:nvPr>
            <p:ph type="title"/>
          </p:nvPr>
        </p:nvSpPr>
        <p:spPr/>
        <p:txBody>
          <a:bodyPr>
            <a:normAutofit/>
          </a:bodyPr>
          <a:lstStyle/>
          <a:p>
            <a:pPr marL="457200" indent="-457200">
              <a:buFont typeface="Wingdings" panose="05000000000000000000" pitchFamily="2" charset="2"/>
              <a:buChar char="Ø"/>
            </a:pPr>
            <a:r>
              <a:rPr lang="en-IN" sz="3200" dirty="0">
                <a:latin typeface="Calibri bold" panose="020F0702030404030204" pitchFamily="34" charset="0"/>
                <a:ea typeface="Calibri bold" panose="020F0702030404030204" pitchFamily="34" charset="0"/>
                <a:cs typeface="Calibri bold" panose="020F0702030404030204" pitchFamily="34" charset="0"/>
              </a:rPr>
              <a:t>Detecting Outbound Connections</a:t>
            </a:r>
            <a:br>
              <a:rPr lang="en-IN" sz="3200" dirty="0">
                <a:latin typeface="Calibri bold" panose="020F0702030404030204" pitchFamily="34" charset="0"/>
                <a:ea typeface="Calibri bold" panose="020F0702030404030204" pitchFamily="34" charset="0"/>
                <a:cs typeface="Calibri bold" panose="020F0702030404030204" pitchFamily="34" charset="0"/>
              </a:rPr>
            </a:br>
            <a:r>
              <a:rPr lang="en-US" sz="2700" dirty="0">
                <a:latin typeface="+mn-lt"/>
                <a:ea typeface="Calibri bold" panose="020F0702030404030204" pitchFamily="34" charset="0"/>
                <a:cs typeface="Calibri bold" panose="020F0702030404030204" pitchFamily="34" charset="0"/>
              </a:rPr>
              <a:t>Windows system initiated a connection to the Kali attacker machine.</a:t>
            </a:r>
            <a:endParaRPr lang="en-IN" sz="2700" dirty="0">
              <a:latin typeface="+mn-lt"/>
              <a:ea typeface="Calibri bold" panose="020F0702030404030204" pitchFamily="34" charset="0"/>
              <a:cs typeface="Calibri bold" panose="020F0702030404030204" pitchFamily="34" charset="0"/>
            </a:endParaRPr>
          </a:p>
        </p:txBody>
      </p:sp>
      <p:pic>
        <p:nvPicPr>
          <p:cNvPr id="5" name="Content Placeholder 4">
            <a:extLst>
              <a:ext uri="{FF2B5EF4-FFF2-40B4-BE49-F238E27FC236}">
                <a16:creationId xmlns="" xmlns:a16="http://schemas.microsoft.com/office/drawing/2014/main" id="{9960D312-9DAA-F19C-4D0A-19E23CC90388}"/>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269285" y="1825625"/>
            <a:ext cx="9653430" cy="4351338"/>
          </a:xfrm>
        </p:spPr>
      </p:pic>
    </p:spTree>
    <p:extLst>
      <p:ext uri="{BB962C8B-B14F-4D97-AF65-F5344CB8AC3E}">
        <p14:creationId xmlns="" xmlns:p14="http://schemas.microsoft.com/office/powerpoint/2010/main" val="394729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3AEC68-2C1F-9F7C-64E7-2076900F78C1}"/>
              </a:ext>
            </a:extLst>
          </p:cNvPr>
          <p:cNvSpPr>
            <a:spLocks noGrp="1"/>
          </p:cNvSpPr>
          <p:nvPr>
            <p:ph type="title"/>
          </p:nvPr>
        </p:nvSpPr>
        <p:spPr/>
        <p:txBody>
          <a:bodyPr>
            <a:normAutofit/>
          </a:bodyPr>
          <a:lstStyle/>
          <a:p>
            <a:pPr marL="457200" indent="-457200">
              <a:buFont typeface="Wingdings" panose="05000000000000000000" pitchFamily="2" charset="2"/>
              <a:buChar char="Ø"/>
            </a:pPr>
            <a:r>
              <a:rPr lang="en-IN" sz="3200" dirty="0">
                <a:latin typeface="Calibri bold" panose="020F0702030404030204" pitchFamily="34" charset="0"/>
                <a:ea typeface="Calibri bold" panose="020F0702030404030204" pitchFamily="34" charset="0"/>
                <a:cs typeface="Calibri bold" panose="020F0702030404030204" pitchFamily="34" charset="0"/>
              </a:rPr>
              <a:t>Brute Force Attack Detection</a:t>
            </a:r>
            <a:br>
              <a:rPr lang="en-IN" sz="3200" dirty="0">
                <a:latin typeface="Calibri bold" panose="020F0702030404030204" pitchFamily="34" charset="0"/>
                <a:ea typeface="Calibri bold" panose="020F0702030404030204" pitchFamily="34" charset="0"/>
                <a:cs typeface="Calibri bold" panose="020F0702030404030204" pitchFamily="34" charset="0"/>
              </a:rPr>
            </a:br>
            <a:r>
              <a:rPr lang="en-US" sz="2400" dirty="0">
                <a:latin typeface="+mn-lt"/>
              </a:rPr>
              <a:t>These events are useful for detecting brute-force attacks.</a:t>
            </a:r>
            <a:endParaRPr lang="en-IN" sz="2400" dirty="0">
              <a:latin typeface="+mn-lt"/>
              <a:ea typeface="Calibri bold" panose="020F0702030404030204" pitchFamily="34" charset="0"/>
              <a:cs typeface="Calibri bold" panose="020F0702030404030204" pitchFamily="34" charset="0"/>
            </a:endParaRPr>
          </a:p>
        </p:txBody>
      </p:sp>
      <p:pic>
        <p:nvPicPr>
          <p:cNvPr id="5" name="Content Placeholder 4">
            <a:extLst>
              <a:ext uri="{FF2B5EF4-FFF2-40B4-BE49-F238E27FC236}">
                <a16:creationId xmlns="" xmlns:a16="http://schemas.microsoft.com/office/drawing/2014/main" id="{915AB381-E05E-57D7-290F-7EA84FE43227}"/>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252486" y="1825625"/>
            <a:ext cx="9687027" cy="4351338"/>
          </a:xfrm>
        </p:spPr>
      </p:pic>
    </p:spTree>
    <p:extLst>
      <p:ext uri="{BB962C8B-B14F-4D97-AF65-F5344CB8AC3E}">
        <p14:creationId xmlns="" xmlns:p14="http://schemas.microsoft.com/office/powerpoint/2010/main" val="75991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ACB57D-9290-A1A5-DBEB-FB4FF2A20E4A}"/>
              </a:ext>
            </a:extLst>
          </p:cNvPr>
          <p:cNvSpPr>
            <a:spLocks noGrp="1"/>
          </p:cNvSpPr>
          <p:nvPr>
            <p:ph type="title"/>
          </p:nvPr>
        </p:nvSpPr>
        <p:spPr/>
        <p:txBody>
          <a:bodyPr>
            <a:normAutofit/>
          </a:bodyPr>
          <a:lstStyle/>
          <a:p>
            <a:pPr marL="457200" indent="-457200">
              <a:buFont typeface="Wingdings" panose="05000000000000000000" pitchFamily="2" charset="2"/>
              <a:buChar char="Ø"/>
            </a:pPr>
            <a:r>
              <a:rPr lang="en-IN" sz="3200" dirty="0">
                <a:latin typeface="Calibri bold" panose="020F0702030404030204" pitchFamily="34" charset="0"/>
                <a:ea typeface="Calibri bold" panose="020F0702030404030204" pitchFamily="34" charset="0"/>
                <a:cs typeface="Calibri bold" panose="020F0702030404030204" pitchFamily="34" charset="0"/>
              </a:rPr>
              <a:t>Brute Force Detection Query</a:t>
            </a:r>
            <a:br>
              <a:rPr lang="en-IN" sz="3200" dirty="0">
                <a:latin typeface="Calibri bold" panose="020F0702030404030204" pitchFamily="34" charset="0"/>
                <a:ea typeface="Calibri bold" panose="020F0702030404030204" pitchFamily="34" charset="0"/>
                <a:cs typeface="Calibri bold" panose="020F0702030404030204" pitchFamily="34" charset="0"/>
              </a:rPr>
            </a:br>
            <a:r>
              <a:rPr lang="en-US" sz="2400" dirty="0">
                <a:latin typeface="+mn-lt"/>
              </a:rPr>
              <a:t>This query aggregates failed login attempts and identifies accounts experiencing suspicious login failures.</a:t>
            </a:r>
            <a:endParaRPr lang="en-IN" sz="2400" dirty="0">
              <a:latin typeface="+mn-lt"/>
              <a:ea typeface="Calibri bold" panose="020F0702030404030204" pitchFamily="34" charset="0"/>
              <a:cs typeface="Calibri bold" panose="020F0702030404030204" pitchFamily="34" charset="0"/>
            </a:endParaRPr>
          </a:p>
        </p:txBody>
      </p:sp>
      <p:pic>
        <p:nvPicPr>
          <p:cNvPr id="5" name="Content Placeholder 4">
            <a:extLst>
              <a:ext uri="{FF2B5EF4-FFF2-40B4-BE49-F238E27FC236}">
                <a16:creationId xmlns="" xmlns:a16="http://schemas.microsoft.com/office/drawing/2014/main" id="{42B0126E-6A01-8D62-49E7-956E0A70E8FA}"/>
              </a:ext>
            </a:extLst>
          </p:cNvPr>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280419" y="1825625"/>
            <a:ext cx="9631161" cy="4351338"/>
          </a:xfrm>
        </p:spPr>
      </p:pic>
    </p:spTree>
    <p:extLst>
      <p:ext uri="{BB962C8B-B14F-4D97-AF65-F5344CB8AC3E}">
        <p14:creationId xmlns="" xmlns:p14="http://schemas.microsoft.com/office/powerpoint/2010/main" val="2508643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95</Words>
  <Application>Microsoft Office PowerPoint</Application>
  <PresentationFormat>Custom</PresentationFormat>
  <Paragraphs>12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SOC Home Lab Project #2: Kali Linux Attack Simulation &amp; Brute Force Detection in Splunk SIEM</vt:lpstr>
      <vt:lpstr>SOC Home Lab Architecture</vt:lpstr>
      <vt:lpstr>Attack Simulation from Kali Linux (Nmap Scan)</vt:lpstr>
      <vt:lpstr>Detecting Attacker IP in Sysmon Logs Sysmon Event ID 3 logs captured network connections between the Kali Linux attacker and the Windows victim system. Attacker IP (Kali): 192.168.29.131           Victim IP (Windows): 192.168.29.247</vt:lpstr>
      <vt:lpstr>Analyzing Network Connections Using Splunk  Splunk was used to analyze Sysmon network logs and identify communication between attacker and victim systems. This helps SOC analysts detect suspicious network activity and trace attacker behavior.</vt:lpstr>
      <vt:lpstr>Detecting Outbound Connections Windows system initiated a connection to the Kali attacker machine.</vt:lpstr>
      <vt:lpstr>Brute Force Attack Detection These events are useful for detecting brute-force attacks.</vt:lpstr>
      <vt:lpstr>Brute Force Detection Query This query aggregates failed login attempts and identifies accounts experiencing suspicious login failures.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 Home Lab Project #2: Kali Linux Attack Simulation &amp; Brute Force Detection in Splunk SIEM</dc:title>
  <dc:creator>vignesh kilambi</dc:creator>
  <cp:lastModifiedBy>LENOVO</cp:lastModifiedBy>
  <cp:revision>4</cp:revision>
  <dcterms:created xsi:type="dcterms:W3CDTF">2026-03-15T17:21:55Z</dcterms:created>
  <dcterms:modified xsi:type="dcterms:W3CDTF">2026-03-19T12:12:10Z</dcterms:modified>
</cp:coreProperties>
</file>